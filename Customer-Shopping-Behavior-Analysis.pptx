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Fraunces Extra Bold"/>
      <p:regular r:id="rId17"/>
    </p:embeddedFont>
    <p:embeddedFont>
      <p:font typeface="Fraunces Extra Bold"/>
      <p:regular r:id="rId18"/>
    </p:embeddedFont>
    <p:embeddedFont>
      <p:font typeface="Nobile"/>
      <p:regular r:id="rId19"/>
    </p:embeddedFont>
    <p:embeddedFont>
      <p:font typeface="Nobile"/>
      <p:regular r:id="rId20"/>
    </p:embeddedFont>
    <p:embeddedFont>
      <p:font typeface="Nobile"/>
      <p:regular r:id="rId21"/>
    </p:embeddedFont>
    <p:embeddedFont>
      <p:font typeface="Nobile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Uncovering insights from 3,900 purchases to guide strategic business decisions through data-driven analysis of spending patterns, customer segments, and product preferences.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60684"/>
            <a:ext cx="2368868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1783080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1728668"/>
            <a:ext cx="182451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2177653"/>
            <a:ext cx="7461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Foundation: Our Data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793790" y="3339941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3,900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1455420" y="4371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486215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Transactions analyzed across all categories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5235893" y="3339941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18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5897523" y="4371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Points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235893" y="486215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Comprehensive customer and purchase attributes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9677995" y="3339941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</a:t>
            </a:r>
            <a:endParaRPr lang="en-US" sz="5850" dirty="0"/>
          </a:p>
        </p:txBody>
      </p:sp>
      <p:sp>
        <p:nvSpPr>
          <p:cNvPr id="13" name="Text 10"/>
          <p:cNvSpPr/>
          <p:nvPr/>
        </p:nvSpPr>
        <p:spPr>
          <a:xfrm>
            <a:off x="10339626" y="43717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Product Categories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677995" y="4862155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Clothing, Accessories, Footwear, and Outerwear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93790" y="584311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Key features include customer demographics (age, gender, location), purchase details (item, category, amount, season), and shopping behavior (discounts, reviews, shipping preferences).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9858"/>
            <a:ext cx="1067728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Preparation &amp; Analysis Pipeline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4959" y="1932265"/>
            <a:ext cx="7660481" cy="454652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97778" y="3043511"/>
            <a:ext cx="652129" cy="65213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16770" y="5424194"/>
            <a:ext cx="1904221" cy="36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Power BI</a:t>
            </a:r>
            <a:endParaRPr lang="en-US" sz="135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0368" y="3044733"/>
            <a:ext cx="652130" cy="65213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16929" y="5240783"/>
            <a:ext cx="1904221" cy="73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SQL Analysis</a:t>
            </a:r>
            <a:endParaRPr lang="en-US" sz="13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0528" y="3044733"/>
            <a:ext cx="652130" cy="65213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977961" y="5240783"/>
            <a:ext cx="1904221" cy="73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Python Cleaning</a:t>
            </a:r>
            <a:endParaRPr lang="en-US" sz="1350" dirty="0"/>
          </a:p>
        </p:txBody>
      </p:sp>
      <p:sp>
        <p:nvSpPr>
          <p:cNvPr id="10" name="Text 4"/>
          <p:cNvSpPr/>
          <p:nvPr/>
        </p:nvSpPr>
        <p:spPr>
          <a:xfrm>
            <a:off x="793790" y="6733937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comprehensive approach combined Python for data preparation, SQL for business intelligence queries, and Power BI for interactive visualization.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984" y="830104"/>
            <a:ext cx="7870031" cy="1137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Python: Data Cleaning &amp; Engineering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36984" y="2186583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36984" y="2472928"/>
            <a:ext cx="78700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6" name="Text 3"/>
          <p:cNvSpPr/>
          <p:nvPr/>
        </p:nvSpPr>
        <p:spPr>
          <a:xfrm>
            <a:off x="636984" y="2609612"/>
            <a:ext cx="3187779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 Loading &amp; Exploration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36984" y="2981444"/>
            <a:ext cx="7870031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Imported dataset with pandas, examined structure and summary statistics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6984" y="3526274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6984" y="3812619"/>
            <a:ext cx="78700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0" name="Text 7"/>
          <p:cNvSpPr/>
          <p:nvPr/>
        </p:nvSpPr>
        <p:spPr>
          <a:xfrm>
            <a:off x="636984" y="3949303"/>
            <a:ext cx="2633067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Missing Data Handling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636984" y="4321135"/>
            <a:ext cx="7870031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Imputed 37 missing Review Rating values using median by category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36984" y="4865965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36984" y="5152311"/>
            <a:ext cx="78700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4" name="Text 11"/>
          <p:cNvSpPr/>
          <p:nvPr/>
        </p:nvSpPr>
        <p:spPr>
          <a:xfrm>
            <a:off x="636984" y="5288994"/>
            <a:ext cx="2351603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Feature Engineering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636984" y="5660827"/>
            <a:ext cx="7870031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Created age_group bins and purchase_frequency_days columns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6984" y="6205657"/>
            <a:ext cx="181928" cy="227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36984" y="6492002"/>
            <a:ext cx="78700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8" name="Text 15"/>
          <p:cNvSpPr/>
          <p:nvPr/>
        </p:nvSpPr>
        <p:spPr>
          <a:xfrm>
            <a:off x="636984" y="6628686"/>
            <a:ext cx="2456855" cy="2843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Database Integration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636984" y="7000518"/>
            <a:ext cx="7870031" cy="262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Connected to MySQL and loaded cleaned data for SQL analysis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57118"/>
            <a:ext cx="2305050" cy="426244"/>
          </a:xfrm>
          <a:prstGeom prst="roundRect">
            <a:avLst>
              <a:gd name="adj" fmla="val 38315"/>
            </a:avLst>
          </a:prstGeom>
          <a:solidFill>
            <a:srgbClr val="DDEEE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78" y="879515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825103"/>
            <a:ext cx="176069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REVENUE INSIGHTS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274088"/>
            <a:ext cx="116981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Gender &amp; Subscription Revenue Analysis</a:t>
            </a:r>
            <a:endParaRPr lang="en-US" sz="4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78179"/>
            <a:ext cx="8284131" cy="438173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043958" y="6990398"/>
            <a:ext cx="226814" cy="226814"/>
          </a:xfrm>
          <a:prstGeom prst="roundRect">
            <a:avLst>
              <a:gd name="adj" fmla="val 8063"/>
            </a:avLst>
          </a:prstGeom>
          <a:solidFill>
            <a:srgbClr val="19331E"/>
          </a:solidFill>
          <a:ln/>
        </p:spPr>
      </p:sp>
      <p:sp>
        <p:nvSpPr>
          <p:cNvPr id="8" name="Text 4"/>
          <p:cNvSpPr/>
          <p:nvPr/>
        </p:nvSpPr>
        <p:spPr>
          <a:xfrm>
            <a:off x="4331732" y="6990398"/>
            <a:ext cx="5279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Male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012055" y="6990398"/>
            <a:ext cx="226814" cy="226814"/>
          </a:xfrm>
          <a:prstGeom prst="roundRect">
            <a:avLst>
              <a:gd name="adj" fmla="val 8063"/>
            </a:avLst>
          </a:prstGeom>
          <a:solidFill>
            <a:srgbClr val="52A863"/>
          </a:solidFill>
          <a:ln/>
        </p:spPr>
      </p:sp>
      <p:sp>
        <p:nvSpPr>
          <p:cNvPr id="10" name="Text 6"/>
          <p:cNvSpPr/>
          <p:nvPr/>
        </p:nvSpPr>
        <p:spPr>
          <a:xfrm>
            <a:off x="5299829" y="6990398"/>
            <a:ext cx="7816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Female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9638943" y="288333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638943" y="3464481"/>
            <a:ext cx="420516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Male customers generated $157,890 in revenue compared to $75,191 from female customers—a 2:1 ratio.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9638943" y="4757261"/>
            <a:ext cx="4205168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Subscribers and non-subscribers showed similar average spending ($59.49 vs $59.87), but non-subscribers contributed $170,436 total revenue versus $62,645 from subscribers due to volume.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3913" y="866537"/>
            <a:ext cx="6127313" cy="587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Top Performing Products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913" y="2042398"/>
            <a:ext cx="8277939" cy="49666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339" y="1844516"/>
            <a:ext cx="2441734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Highest Rated Items</a:t>
            </a:r>
            <a:endParaRPr lang="en-US" sz="1850" dirty="0"/>
          </a:p>
        </p:txBody>
      </p:sp>
      <p:sp>
        <p:nvSpPr>
          <p:cNvPr id="5" name="Shape 2"/>
          <p:cNvSpPr/>
          <p:nvPr/>
        </p:nvSpPr>
        <p:spPr>
          <a:xfrm>
            <a:off x="9568339" y="2413754"/>
            <a:ext cx="94059" cy="94059"/>
          </a:xfrm>
          <a:prstGeom prst="roundRect">
            <a:avLst>
              <a:gd name="adj" fmla="val 486078"/>
            </a:avLst>
          </a:prstGeom>
          <a:solidFill>
            <a:srgbClr val="438951"/>
          </a:solidFill>
          <a:ln/>
        </p:spPr>
      </p:sp>
      <p:sp>
        <p:nvSpPr>
          <p:cNvPr id="6" name="Text 3"/>
          <p:cNvSpPr/>
          <p:nvPr/>
        </p:nvSpPr>
        <p:spPr>
          <a:xfrm>
            <a:off x="9818370" y="2313861"/>
            <a:ext cx="2351842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Gloves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818370" y="2763679"/>
            <a:ext cx="3995499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3.86 average rating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568339" y="3450908"/>
            <a:ext cx="94059" cy="94059"/>
          </a:xfrm>
          <a:prstGeom prst="roundRect">
            <a:avLst>
              <a:gd name="adj" fmla="val 486078"/>
            </a:avLst>
          </a:prstGeom>
          <a:solidFill>
            <a:srgbClr val="438951"/>
          </a:solidFill>
          <a:ln/>
        </p:spPr>
      </p:sp>
      <p:sp>
        <p:nvSpPr>
          <p:cNvPr id="9" name="Text 6"/>
          <p:cNvSpPr/>
          <p:nvPr/>
        </p:nvSpPr>
        <p:spPr>
          <a:xfrm>
            <a:off x="9818370" y="3351014"/>
            <a:ext cx="2351842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Sandals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9818370" y="3800832"/>
            <a:ext cx="3995499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3.84 average rating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9568339" y="4488061"/>
            <a:ext cx="94059" cy="94059"/>
          </a:xfrm>
          <a:prstGeom prst="roundRect">
            <a:avLst>
              <a:gd name="adj" fmla="val 486078"/>
            </a:avLst>
          </a:prstGeom>
          <a:solidFill>
            <a:srgbClr val="438951"/>
          </a:solidFill>
          <a:ln/>
        </p:spPr>
      </p:sp>
      <p:sp>
        <p:nvSpPr>
          <p:cNvPr id="12" name="Text 9"/>
          <p:cNvSpPr/>
          <p:nvPr/>
        </p:nvSpPr>
        <p:spPr>
          <a:xfrm>
            <a:off x="9818370" y="4388168"/>
            <a:ext cx="2351842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Boots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9818370" y="4837986"/>
            <a:ext cx="3995499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3.82 average rating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9568339" y="5525214"/>
            <a:ext cx="94059" cy="94059"/>
          </a:xfrm>
          <a:prstGeom prst="roundRect">
            <a:avLst>
              <a:gd name="adj" fmla="val 486078"/>
            </a:avLst>
          </a:prstGeom>
          <a:solidFill>
            <a:srgbClr val="438951"/>
          </a:solidFill>
          <a:ln/>
        </p:spPr>
      </p:sp>
      <p:sp>
        <p:nvSpPr>
          <p:cNvPr id="15" name="Text 12"/>
          <p:cNvSpPr/>
          <p:nvPr/>
        </p:nvSpPr>
        <p:spPr>
          <a:xfrm>
            <a:off x="9818370" y="5425321"/>
            <a:ext cx="2351842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Hat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9818370" y="5875139"/>
            <a:ext cx="3995499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3.80 average rating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9568339" y="6562368"/>
            <a:ext cx="94059" cy="94059"/>
          </a:xfrm>
          <a:prstGeom prst="roundRect">
            <a:avLst>
              <a:gd name="adj" fmla="val 486078"/>
            </a:avLst>
          </a:prstGeom>
          <a:solidFill>
            <a:srgbClr val="438951"/>
          </a:solidFill>
          <a:ln/>
        </p:spPr>
      </p:sp>
      <p:sp>
        <p:nvSpPr>
          <p:cNvPr id="18" name="Text 15"/>
          <p:cNvSpPr/>
          <p:nvPr/>
        </p:nvSpPr>
        <p:spPr>
          <a:xfrm>
            <a:off x="9818370" y="6462474"/>
            <a:ext cx="2351842" cy="2938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Skirt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9818370" y="6912293"/>
            <a:ext cx="3995499" cy="2752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3.78 average rating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5603"/>
            <a:ext cx="1041654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Customer Segmentation Breakdown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19695"/>
            <a:ext cx="8284131" cy="438173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581751" y="67319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19331E"/>
          </a:solidFill>
          <a:ln/>
        </p:spPr>
      </p:sp>
      <p:sp>
        <p:nvSpPr>
          <p:cNvPr id="5" name="Text 2"/>
          <p:cNvSpPr/>
          <p:nvPr/>
        </p:nvSpPr>
        <p:spPr>
          <a:xfrm>
            <a:off x="2869525" y="6731913"/>
            <a:ext cx="58400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Loyal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252793" y="67319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3F814C"/>
          </a:solidFill>
          <a:ln/>
        </p:spPr>
      </p:sp>
      <p:sp>
        <p:nvSpPr>
          <p:cNvPr id="7" name="Text 4"/>
          <p:cNvSpPr/>
          <p:nvPr/>
        </p:nvSpPr>
        <p:spPr>
          <a:xfrm>
            <a:off x="4540568" y="6731913"/>
            <a:ext cx="107811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Returning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418064" y="6731913"/>
            <a:ext cx="226814" cy="226814"/>
          </a:xfrm>
          <a:prstGeom prst="roundRect">
            <a:avLst>
              <a:gd name="adj" fmla="val 8063"/>
            </a:avLst>
          </a:prstGeom>
          <a:solidFill>
            <a:srgbClr val="77BD85"/>
          </a:solidFill>
          <a:ln/>
        </p:spPr>
      </p:sp>
      <p:sp>
        <p:nvSpPr>
          <p:cNvPr id="9" name="Text 6"/>
          <p:cNvSpPr/>
          <p:nvPr/>
        </p:nvSpPr>
        <p:spPr>
          <a:xfrm>
            <a:off x="6705838" y="6731913"/>
            <a:ext cx="4854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New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475589" y="2064544"/>
            <a:ext cx="4531876" cy="5149334"/>
          </a:xfrm>
          <a:prstGeom prst="roundRect">
            <a:avLst>
              <a:gd name="adj" fmla="val 7207"/>
            </a:avLst>
          </a:prstGeom>
          <a:solidFill>
            <a:srgbClr val="438951"/>
          </a:solidFill>
          <a:ln/>
        </p:spPr>
      </p:sp>
      <p:sp>
        <p:nvSpPr>
          <p:cNvPr id="11" name="Text 8"/>
          <p:cNvSpPr/>
          <p:nvPr/>
        </p:nvSpPr>
        <p:spPr>
          <a:xfrm>
            <a:off x="9702403" y="34526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Loyalty Dominates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702403" y="4033838"/>
            <a:ext cx="4078248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80% of customers are classified as Loyal based on purchase history, with only 2% being new customers. This strong retention indicates effective customer satisfaction strategies.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322903"/>
            <a:ext cx="2466142" cy="441484"/>
          </a:xfrm>
          <a:prstGeom prst="roundRect">
            <a:avLst>
              <a:gd name="adj" fmla="val 36993"/>
            </a:avLst>
          </a:prstGeom>
          <a:noFill/>
          <a:ln w="7620">
            <a:solidFill>
              <a:srgbClr val="43895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7498" y="1452920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9675" y="1398508"/>
            <a:ext cx="190654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DISCOUNT ANALYSIS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855113"/>
            <a:ext cx="87615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Discount-Dependent Products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93790" y="3017401"/>
            <a:ext cx="3370183" cy="283488"/>
          </a:xfrm>
          <a:prstGeom prst="roundRect">
            <a:avLst>
              <a:gd name="adj" fmla="val 72012"/>
            </a:avLst>
          </a:prstGeom>
          <a:solidFill>
            <a:srgbClr val="E8F3E8"/>
          </a:solidFill>
          <a:ln/>
        </p:spPr>
      </p:sp>
      <p:sp>
        <p:nvSpPr>
          <p:cNvPr id="7" name="Shape 4"/>
          <p:cNvSpPr/>
          <p:nvPr/>
        </p:nvSpPr>
        <p:spPr>
          <a:xfrm>
            <a:off x="793790" y="3017401"/>
            <a:ext cx="1685092" cy="283488"/>
          </a:xfrm>
          <a:prstGeom prst="roundRect">
            <a:avLst>
              <a:gd name="adj" fmla="val 72012"/>
            </a:avLst>
          </a:prstGeom>
          <a:solidFill>
            <a:srgbClr val="438951"/>
          </a:solidFill>
          <a:ln/>
        </p:spPr>
      </p:sp>
      <p:sp>
        <p:nvSpPr>
          <p:cNvPr id="8" name="Text 5"/>
          <p:cNvSpPr/>
          <p:nvPr/>
        </p:nvSpPr>
        <p:spPr>
          <a:xfrm>
            <a:off x="4333994" y="3017401"/>
            <a:ext cx="618411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50%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93790" y="35842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Hat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93790" y="407467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Highest discount rate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235893" y="3017401"/>
            <a:ext cx="2907387" cy="283488"/>
          </a:xfrm>
          <a:prstGeom prst="roundRect">
            <a:avLst>
              <a:gd name="adj" fmla="val 72012"/>
            </a:avLst>
          </a:prstGeom>
          <a:solidFill>
            <a:srgbClr val="E8F3E8"/>
          </a:solidFill>
          <a:ln/>
        </p:spPr>
      </p:sp>
      <p:sp>
        <p:nvSpPr>
          <p:cNvPr id="12" name="Shape 9"/>
          <p:cNvSpPr/>
          <p:nvPr/>
        </p:nvSpPr>
        <p:spPr>
          <a:xfrm>
            <a:off x="5235893" y="3017401"/>
            <a:ext cx="1443752" cy="283488"/>
          </a:xfrm>
          <a:prstGeom prst="roundRect">
            <a:avLst>
              <a:gd name="adj" fmla="val 72012"/>
            </a:avLst>
          </a:prstGeom>
          <a:solidFill>
            <a:srgbClr val="438951"/>
          </a:solidFill>
          <a:ln/>
        </p:spPr>
      </p:sp>
      <p:sp>
        <p:nvSpPr>
          <p:cNvPr id="13" name="Text 10"/>
          <p:cNvSpPr/>
          <p:nvPr/>
        </p:nvSpPr>
        <p:spPr>
          <a:xfrm>
            <a:off x="8313301" y="3017401"/>
            <a:ext cx="108120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49.66%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235893" y="35842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Sneakers</a:t>
            </a:r>
            <a:endParaRPr lang="en-US" sz="2200" dirty="0"/>
          </a:p>
        </p:txBody>
      </p:sp>
      <p:sp>
        <p:nvSpPr>
          <p:cNvPr id="15" name="Shape 12"/>
          <p:cNvSpPr/>
          <p:nvPr/>
        </p:nvSpPr>
        <p:spPr>
          <a:xfrm>
            <a:off x="9677995" y="3017401"/>
            <a:ext cx="2919293" cy="283488"/>
          </a:xfrm>
          <a:prstGeom prst="roundRect">
            <a:avLst>
              <a:gd name="adj" fmla="val 72012"/>
            </a:avLst>
          </a:prstGeom>
          <a:solidFill>
            <a:srgbClr val="E8F3E8"/>
          </a:solidFill>
          <a:ln/>
        </p:spPr>
      </p:sp>
      <p:sp>
        <p:nvSpPr>
          <p:cNvPr id="16" name="Shape 13"/>
          <p:cNvSpPr/>
          <p:nvPr/>
        </p:nvSpPr>
        <p:spPr>
          <a:xfrm>
            <a:off x="9677995" y="3017401"/>
            <a:ext cx="1432441" cy="283488"/>
          </a:xfrm>
          <a:prstGeom prst="roundRect">
            <a:avLst>
              <a:gd name="adj" fmla="val 72012"/>
            </a:avLst>
          </a:prstGeom>
          <a:solidFill>
            <a:srgbClr val="438951"/>
          </a:solidFill>
          <a:ln/>
        </p:spPr>
      </p:sp>
      <p:sp>
        <p:nvSpPr>
          <p:cNvPr id="17" name="Text 14"/>
          <p:cNvSpPr/>
          <p:nvPr/>
        </p:nvSpPr>
        <p:spPr>
          <a:xfrm>
            <a:off x="12767310" y="3017401"/>
            <a:ext cx="106930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49.07%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677995" y="35842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Coat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793790" y="5004554"/>
            <a:ext cx="2977277" cy="283488"/>
          </a:xfrm>
          <a:prstGeom prst="roundRect">
            <a:avLst>
              <a:gd name="adj" fmla="val 72012"/>
            </a:avLst>
          </a:prstGeom>
          <a:solidFill>
            <a:srgbClr val="E8F3E8"/>
          </a:solidFill>
          <a:ln/>
        </p:spPr>
      </p:sp>
      <p:sp>
        <p:nvSpPr>
          <p:cNvPr id="20" name="Shape 17"/>
          <p:cNvSpPr/>
          <p:nvPr/>
        </p:nvSpPr>
        <p:spPr>
          <a:xfrm>
            <a:off x="793790" y="5004554"/>
            <a:ext cx="1434108" cy="283488"/>
          </a:xfrm>
          <a:prstGeom prst="roundRect">
            <a:avLst>
              <a:gd name="adj" fmla="val 72012"/>
            </a:avLst>
          </a:prstGeom>
          <a:solidFill>
            <a:srgbClr val="438951"/>
          </a:solidFill>
          <a:ln/>
        </p:spPr>
      </p:sp>
      <p:sp>
        <p:nvSpPr>
          <p:cNvPr id="21" name="Text 18"/>
          <p:cNvSpPr/>
          <p:nvPr/>
        </p:nvSpPr>
        <p:spPr>
          <a:xfrm>
            <a:off x="3941088" y="5004554"/>
            <a:ext cx="101131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48.17%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93790" y="55714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Sweater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5235893" y="5004554"/>
            <a:ext cx="2988707" cy="283488"/>
          </a:xfrm>
          <a:prstGeom prst="roundRect">
            <a:avLst>
              <a:gd name="adj" fmla="val 72012"/>
            </a:avLst>
          </a:prstGeom>
          <a:solidFill>
            <a:srgbClr val="E8F3E8"/>
          </a:solidFill>
          <a:ln/>
        </p:spPr>
      </p:sp>
      <p:sp>
        <p:nvSpPr>
          <p:cNvPr id="24" name="Shape 21"/>
          <p:cNvSpPr/>
          <p:nvPr/>
        </p:nvSpPr>
        <p:spPr>
          <a:xfrm>
            <a:off x="5235893" y="5004554"/>
            <a:ext cx="1415653" cy="283488"/>
          </a:xfrm>
          <a:prstGeom prst="roundRect">
            <a:avLst>
              <a:gd name="adj" fmla="val 72012"/>
            </a:avLst>
          </a:prstGeom>
          <a:solidFill>
            <a:srgbClr val="438951"/>
          </a:solidFill>
          <a:ln/>
        </p:spPr>
      </p:sp>
      <p:sp>
        <p:nvSpPr>
          <p:cNvPr id="25" name="Text 22"/>
          <p:cNvSpPr/>
          <p:nvPr/>
        </p:nvSpPr>
        <p:spPr>
          <a:xfrm>
            <a:off x="8394621" y="5004554"/>
            <a:ext cx="999887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47.37%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5235893" y="557141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Pants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793790" y="618089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These products show the highest percentage of discounted purchases, suggesting price sensitivity in these categories. Interestingly, high-spending customers still purchased above-average amounts even with discounts applied.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354473"/>
            <a:ext cx="91470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Power BI Dashboard Highlights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5403413"/>
            <a:ext cx="4196358" cy="1306949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5" name="Text 2"/>
          <p:cNvSpPr/>
          <p:nvPr/>
        </p:nvSpPr>
        <p:spPr>
          <a:xfrm>
            <a:off x="1020604" y="56302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$59.76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6120646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16962" y="5403413"/>
            <a:ext cx="4196358" cy="1306949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8" name="Text 5"/>
          <p:cNvSpPr/>
          <p:nvPr/>
        </p:nvSpPr>
        <p:spPr>
          <a:xfrm>
            <a:off x="5443776" y="56302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3.75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43776" y="6120646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Average review rating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9640133" y="5403413"/>
            <a:ext cx="4196358" cy="1306949"/>
          </a:xfrm>
          <a:prstGeom prst="roundRect">
            <a:avLst>
              <a:gd name="adj" fmla="val 15620"/>
            </a:avLst>
          </a:prstGeom>
          <a:solidFill>
            <a:srgbClr val="E8F3E8"/>
          </a:solidFill>
          <a:ln/>
        </p:spPr>
      </p:sp>
      <p:sp>
        <p:nvSpPr>
          <p:cNvPr id="11" name="Text 8"/>
          <p:cNvSpPr/>
          <p:nvPr/>
        </p:nvSpPr>
        <p:spPr>
          <a:xfrm>
            <a:off x="9866948" y="56302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27%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866948" y="6120646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Subscription rate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4929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Takeaways &amp; Strategic Recommendations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206115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3206115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3463409"/>
            <a:ext cx="48077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Focus on Male Customer Segment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953828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Male customers drive 68% of revenue—tailor marketing and product offerings to this demographic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3206115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3206115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3463409"/>
            <a:ext cx="437257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Leverage Loyal Customer Base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953828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80% customer loyalty presents opportunity for subscription growth and retention programs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163741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5163741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5421035"/>
            <a:ext cx="39683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Optimize Discount Strategy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911453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Half of Hat and Sneaker purchases use discounts—evaluate pricing strategy for these categories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5163741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AFFFA"/>
          </a:solidFill>
          <a:ln w="30480">
            <a:solidFill>
              <a:srgbClr val="CED9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5163741"/>
            <a:ext cx="121920" cy="1730812"/>
          </a:xfrm>
          <a:prstGeom prst="roundRect">
            <a:avLst>
              <a:gd name="adj" fmla="val 167442"/>
            </a:avLst>
          </a:prstGeom>
          <a:solidFill>
            <a:srgbClr val="438951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5421035"/>
            <a:ext cx="40867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Target Young Demographics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911453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Young age group leads in both revenue and sales volume across all categories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2026-02-03T10:23:38Z</dcterms:created>
  <dcterms:modified xsi:type="dcterms:W3CDTF">2026-02-03T10:23:38Z</dcterms:modified>
</cp:coreProperties>
</file>